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 = 0.05</c:v>
                </c:pt>
              </c:strCache>
            </c:strRef>
          </c:tx>
          <c:spPr>
            <a:solidFill>
              <a:srgbClr val="9AA0A8"/>
            </a:solidFill>
            <a:ln w="28575" cap="flat">
              <a:solidFill>
                <a:srgbClr val="9AA0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0A8"/>
              </a:solidFill>
              <a:ln w="9525" cap="flat">
                <a:solidFill>
                  <a:srgbClr val="9AA0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0.8</c:v>
                </c:pt>
                <c:pt idx="1">
                  <c:v>0.6400000000000001</c:v>
                </c:pt>
                <c:pt idx="2">
                  <c:v>0.5120000000000001</c:v>
                </c:pt>
                <c:pt idx="3">
                  <c:v>0.4096000000000001</c:v>
                </c:pt>
                <c:pt idx="4">
                  <c:v>0.3276800000000001</c:v>
                </c:pt>
                <c:pt idx="5">
                  <c:v>0.2621440000000001</c:v>
                </c:pt>
                <c:pt idx="6">
                  <c:v>0.20971520000000007</c:v>
                </c:pt>
                <c:pt idx="7">
                  <c:v>0.1677721600000001</c:v>
                </c:pt>
                <c:pt idx="8">
                  <c:v>0.13421772800000006</c:v>
                </c:pt>
                <c:pt idx="9">
                  <c:v>0.10737418240000006</c:v>
                </c:pt>
                <c:pt idx="10">
                  <c:v>0.08589934592000005</c:v>
                </c:pt>
                <c:pt idx="11">
                  <c:v>0.06871947673600004</c:v>
                </c:pt>
                <c:pt idx="12">
                  <c:v>0.05497558138880004</c:v>
                </c:pt>
                <c:pt idx="13">
                  <c:v>0.043980465111040035</c:v>
                </c:pt>
                <c:pt idx="14">
                  <c:v>0.03518437208883203</c:v>
                </c:pt>
                <c:pt idx="15">
                  <c:v>0.028147497671065624</c:v>
                </c:pt>
                <c:pt idx="16">
                  <c:v>0.0225179981368525</c:v>
                </c:pt>
                <c:pt idx="17">
                  <c:v>0.018014398509482003</c:v>
                </c:pt>
                <c:pt idx="18">
                  <c:v>0.014411518807585602</c:v>
                </c:pt>
                <c:pt idx="19">
                  <c:v>0.011529215046068483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σ = 1/16</c:v>
                </c:pt>
              </c:strCache>
            </c:strRef>
          </c:tx>
          <c:spPr>
            <a:solidFill>
              <a:srgbClr val="4C9BFF"/>
            </a:solidFill>
            <a:ln w="28575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σ = 0.1</c:v>
                </c:pt>
              </c:strCache>
            </c:strRef>
          </c:tx>
          <c:spPr>
            <a:solidFill>
              <a:srgbClr val="0F1B2D"/>
            </a:solidFill>
            <a:ln w="28575" cap="flat">
              <a:solidFill>
                <a:srgbClr val="0F1B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1B2D"/>
              </a:solidFill>
              <a:ln w="9525" cap="flat">
                <a:solidFill>
                  <a:srgbClr val="0F1B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1.6</c:v>
                </c:pt>
                <c:pt idx="1">
                  <c:v>2.5600000000000005</c:v>
                </c:pt>
                <c:pt idx="2">
                  <c:v>4.096000000000001</c:v>
                </c:pt>
                <c:pt idx="3">
                  <c:v>6.553600000000001</c:v>
                </c:pt>
                <c:pt idx="4">
                  <c:v>10.485760000000003</c:v>
                </c:pt>
                <c:pt idx="5">
                  <c:v>16.777216000000006</c:v>
                </c:pt>
                <c:pt idx="6">
                  <c:v>26.84354560000001</c:v>
                </c:pt>
                <c:pt idx="7">
                  <c:v>42.94967296000002</c:v>
                </c:pt>
                <c:pt idx="8">
                  <c:v>68.71947673600003</c:v>
                </c:pt>
                <c:pt idx="9">
                  <c:v>109.95116277760006</c:v>
                </c:pt>
                <c:pt idx="10">
                  <c:v>175.9218604441601</c:v>
                </c:pt>
                <c:pt idx="11">
                  <c:v>281.47497671065616</c:v>
                </c:pt>
                <c:pt idx="12">
                  <c:v>450.35996273704995</c:v>
                </c:pt>
                <c:pt idx="13">
                  <c:v>720.5759403792799</c:v>
                </c:pt>
                <c:pt idx="14">
                  <c:v>1152.921504606848</c:v>
                </c:pt>
                <c:pt idx="15">
                  <c:v>1844.6744073709567</c:v>
                </c:pt>
                <c:pt idx="16">
                  <c:v>2951.4790517935307</c:v>
                </c:pt>
                <c:pt idx="17">
                  <c:v>4722.36648286965</c:v>
                </c:pt>
                <c:pt idx="18">
                  <c:v>7555.78637259144</c:v>
                </c:pt>
                <c:pt idx="19">
                  <c:v>12089.258196146306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номер слоя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logBase val="10"/>
          <c:orientation val="minMax"/>
          <c:max val="100000"/>
          <c:min val="0.001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отклонение выхода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B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PyTorch по умолчанию</c:v>
                </c:pt>
              </c:strCache>
            </c:strRef>
          </c:tx>
          <c:spPr>
            <a:solidFill>
              <a:srgbClr val="9AA0A8"/>
            </a:solidFill>
            <a:ln w="28575" cap="flat">
              <a:solidFill>
                <a:srgbClr val="9AA0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0A8"/>
              </a:solidFill>
              <a:ln w="9525" cap="flat">
                <a:solidFill>
                  <a:srgbClr val="9AA0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0.5773502691896257</c:v>
                </c:pt>
                <c:pt idx="1">
                  <c:v>0.23570226039551584</c:v>
                </c:pt>
                <c:pt idx="2">
                  <c:v>0.09622504486493762</c:v>
                </c:pt>
                <c:pt idx="3">
                  <c:v>0.039283710065919304</c:v>
                </c:pt>
                <c:pt idx="4">
                  <c:v>0.016037507477489603</c:v>
                </c:pt>
                <c:pt idx="5">
                  <c:v>0.006547285010986551</c:v>
                </c:pt>
                <c:pt idx="6">
                  <c:v>0.0026729179129149337</c:v>
                </c:pt>
                <c:pt idx="7">
                  <c:v>0.0010912141684977586</c:v>
                </c:pt>
                <c:pt idx="8">
                  <c:v>0.00044548631881915563</c:v>
                </c:pt>
                <c:pt idx="9">
                  <c:v>0.00018186902808295976</c:v>
                </c:pt>
                <c:pt idx="10">
                  <c:v>0.00007424771980319262</c:v>
                </c:pt>
                <c:pt idx="11">
                  <c:v>0.00003031150468049329</c:v>
                </c:pt>
                <c:pt idx="12">
                  <c:v>0.00001237461996719877</c:v>
                </c:pt>
                <c:pt idx="13">
                  <c:v>0.000005051917446748882</c:v>
                </c:pt>
                <c:pt idx="14">
                  <c:v>0.000002062436661199795</c:v>
                </c:pt>
                <c:pt idx="15">
                  <c:v>8.419862411248136e-7</c:v>
                </c:pt>
                <c:pt idx="16">
                  <c:v>3.437394435332991e-7</c:v>
                </c:pt>
                <c:pt idx="17">
                  <c:v>1.4033104018746896e-7</c:v>
                </c:pt>
                <c:pt idx="18">
                  <c:v>5.728990725554986e-8</c:v>
                </c:pt>
                <c:pt idx="19">
                  <c:v>2.338850669791149e-8</c:v>
                </c:pt>
                <c:pt idx="20">
                  <c:v>9.548317875924975e-9</c:v>
                </c:pt>
                <c:pt idx="21">
                  <c:v>3.898084449651915e-9</c:v>
                </c:pt>
                <c:pt idx="22">
                  <c:v>1.5913863126541628e-9</c:v>
                </c:pt>
                <c:pt idx="23">
                  <c:v>6.496807416086525e-10</c:v>
                </c:pt>
                <c:pt idx="24">
                  <c:v>2.652310521090271e-10</c:v>
                </c:pt>
                <c:pt idx="25">
                  <c:v>1.0828012360144209e-10</c:v>
                </c:pt>
                <c:pt idx="26">
                  <c:v>4.4205175351504516e-11</c:v>
                </c:pt>
                <c:pt idx="27">
                  <c:v>1.8046687266907013e-11</c:v>
                </c:pt>
                <c:pt idx="28">
                  <c:v>7.367529225250754e-12</c:v>
                </c:pt>
                <c:pt idx="29">
                  <c:v>3.0077812111511687e-12</c:v>
                </c:pt>
                <c:pt idx="30">
                  <c:v>1.2279215375417922e-12</c:v>
                </c:pt>
                <c:pt idx="31">
                  <c:v>5.012968685251949e-13</c:v>
                </c:pt>
                <c:pt idx="32">
                  <c:v>2.046535895902987e-13</c:v>
                </c:pt>
                <c:pt idx="33">
                  <c:v>8.354947808753247e-14</c:v>
                </c:pt>
                <c:pt idx="34">
                  <c:v>3.4108931598383115e-14</c:v>
                </c:pt>
                <c:pt idx="35">
                  <c:v>1.3924913014588745e-14</c:v>
                </c:pt>
                <c:pt idx="36">
                  <c:v>5.684821933063853e-15</c:v>
                </c:pt>
                <c:pt idx="37">
                  <c:v>2.3208188357647907e-15</c:v>
                </c:pt>
                <c:pt idx="38">
                  <c:v>9.474703221773089e-16</c:v>
                </c:pt>
                <c:pt idx="39">
                  <c:v>3.868031392941318e-16</c:v>
                </c:pt>
                <c:pt idx="40">
                  <c:v>1.579117203628848e-16</c:v>
                </c:pt>
                <c:pt idx="41">
                  <c:v>6.446718988235532e-17</c:v>
                </c:pt>
                <c:pt idx="42">
                  <c:v>2.6318620060480798e-17</c:v>
                </c:pt>
                <c:pt idx="43">
                  <c:v>1.0744531647059217e-17</c:v>
                </c:pt>
                <c:pt idx="44">
                  <c:v>4.3864366767468e-18</c:v>
                </c:pt>
                <c:pt idx="45">
                  <c:v>1.79075527450987e-18</c:v>
                </c:pt>
                <c:pt idx="46">
                  <c:v>7.310727794577999e-19</c:v>
                </c:pt>
                <c:pt idx="47">
                  <c:v>2.9845921241831157e-19</c:v>
                </c:pt>
                <c:pt idx="48">
                  <c:v>1.2184546324296666e-19</c:v>
                </c:pt>
                <c:pt idx="49">
                  <c:v>4.97432020697186e-20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Ксавье</c:v>
                </c:pt>
              </c:strCache>
            </c:strRef>
          </c:tx>
          <c:spPr>
            <a:solidFill>
              <a:srgbClr val="1F63C9"/>
            </a:solidFill>
            <a:ln w="28575" cap="flat">
              <a:solidFill>
                <a:srgbClr val="1F63C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63C9"/>
              </a:solidFill>
              <a:ln w="9525" cap="flat">
                <a:solidFill>
                  <a:srgbClr val="1F63C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Sheet1!$C$2:$C$51</c:f>
              <c:numCache>
                <c:formatCode>General</c:formatCode>
                <c:ptCount val="50"/>
                <c:pt idx="0">
                  <c:v>1</c:v>
                </c:pt>
                <c:pt idx="1">
                  <c:v>0.7071067811865476</c:v>
                </c:pt>
                <c:pt idx="2">
                  <c:v>0.5000000000000001</c:v>
                </c:pt>
                <c:pt idx="3">
                  <c:v>0.35355339059327384</c:v>
                </c:pt>
                <c:pt idx="4">
                  <c:v>0.25000000000000006</c:v>
                </c:pt>
                <c:pt idx="5">
                  <c:v>0.17677669529663695</c:v>
                </c:pt>
                <c:pt idx="6">
                  <c:v>0.12500000000000006</c:v>
                </c:pt>
                <c:pt idx="7">
                  <c:v>0.08838834764831849</c:v>
                </c:pt>
                <c:pt idx="8">
                  <c:v>0.06250000000000003</c:v>
                </c:pt>
                <c:pt idx="9">
                  <c:v>0.044194173824159244</c:v>
                </c:pt>
                <c:pt idx="10">
                  <c:v>0.03125000000000002</c:v>
                </c:pt>
                <c:pt idx="11">
                  <c:v>0.02209708691207963</c:v>
                </c:pt>
                <c:pt idx="12">
                  <c:v>0.015625000000000014</c:v>
                </c:pt>
                <c:pt idx="13">
                  <c:v>0.011048543456039814</c:v>
                </c:pt>
                <c:pt idx="14">
                  <c:v>0.007812500000000007</c:v>
                </c:pt>
                <c:pt idx="15">
                  <c:v>0.005524271728019908</c:v>
                </c:pt>
                <c:pt idx="16">
                  <c:v>0.003906250000000004</c:v>
                </c:pt>
                <c:pt idx="17">
                  <c:v>0.0027621358640099545</c:v>
                </c:pt>
                <c:pt idx="18">
                  <c:v>0.0019531250000000026</c:v>
                </c:pt>
                <c:pt idx="19">
                  <c:v>0.0013810679320049775</c:v>
                </c:pt>
                <c:pt idx="20">
                  <c:v>0.0009765625000000013</c:v>
                </c:pt>
                <c:pt idx="21">
                  <c:v>0.0006905339660024888</c:v>
                </c:pt>
                <c:pt idx="22">
                  <c:v>0.0004882812500000008</c:v>
                </c:pt>
                <c:pt idx="23">
                  <c:v>0.0003452669830012444</c:v>
                </c:pt>
                <c:pt idx="24">
                  <c:v>0.0002441406250000004</c:v>
                </c:pt>
                <c:pt idx="25">
                  <c:v>0.00017263349150062226</c:v>
                </c:pt>
                <c:pt idx="26">
                  <c:v>0.00012207031250000022</c:v>
                </c:pt>
                <c:pt idx="27">
                  <c:v>0.00008631674575031113</c:v>
                </c:pt>
                <c:pt idx="28">
                  <c:v>0.00006103515625000012</c:v>
                </c:pt>
                <c:pt idx="29">
                  <c:v>0.00004315837287515558</c:v>
                </c:pt>
                <c:pt idx="30">
                  <c:v>0.00003051757812500006</c:v>
                </c:pt>
                <c:pt idx="31">
                  <c:v>0.00002157918643757779</c:v>
                </c:pt>
                <c:pt idx="32">
                  <c:v>0.000015258789062500034</c:v>
                </c:pt>
                <c:pt idx="33">
                  <c:v>0.000010789593218788897</c:v>
                </c:pt>
                <c:pt idx="34">
                  <c:v>0.000007629394531250017</c:v>
                </c:pt>
                <c:pt idx="35">
                  <c:v>0.000005394796609394449</c:v>
                </c:pt>
                <c:pt idx="36">
                  <c:v>0.000003814697265625009</c:v>
                </c:pt>
                <c:pt idx="37">
                  <c:v>0.0000026973983046972246</c:v>
                </c:pt>
                <c:pt idx="38">
                  <c:v>0.000001907348632812505</c:v>
                </c:pt>
                <c:pt idx="39">
                  <c:v>0.0000013486991523486127</c:v>
                </c:pt>
                <c:pt idx="40">
                  <c:v>9.536743164062525e-7</c:v>
                </c:pt>
                <c:pt idx="41">
                  <c:v>6.743495761743064e-7</c:v>
                </c:pt>
                <c:pt idx="42">
                  <c:v>4.768371582031264e-7</c:v>
                </c:pt>
                <c:pt idx="43">
                  <c:v>3.371747880871533e-7</c:v>
                </c:pt>
                <c:pt idx="44">
                  <c:v>2.3841857910156324e-7</c:v>
                </c:pt>
                <c:pt idx="45">
                  <c:v>1.6858739404357664e-7</c:v>
                </c:pt>
                <c:pt idx="46">
                  <c:v>1.1920928955078162e-7</c:v>
                </c:pt>
                <c:pt idx="47">
                  <c:v>8.429369702178833e-8</c:v>
                </c:pt>
                <c:pt idx="48">
                  <c:v>5.960464477539082e-8</c:v>
                </c:pt>
                <c:pt idx="49">
                  <c:v>4.2146848510894174e-8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Кайминг</c:v>
                </c:pt>
              </c:strCache>
            </c:strRef>
          </c:tx>
          <c:spPr>
            <a:solidFill>
              <a:srgbClr val="4C9BFF"/>
            </a:solidFill>
            <a:ln w="28575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Sheet1!$D$2:$D$51</c:f>
              <c:numCache>
                <c:formatCode>General</c:formatCode>
                <c:ptCount val="50"/>
                <c:pt idx="0">
                  <c:v>1.4142135623730951</c:v>
                </c:pt>
                <c:pt idx="1">
                  <c:v>1.4142135623730951</c:v>
                </c:pt>
                <c:pt idx="2">
                  <c:v>1.4142135623730951</c:v>
                </c:pt>
                <c:pt idx="3">
                  <c:v>1.4142135623730951</c:v>
                </c:pt>
                <c:pt idx="4">
                  <c:v>1.4142135623730951</c:v>
                </c:pt>
                <c:pt idx="5">
                  <c:v>1.4142135623730951</c:v>
                </c:pt>
                <c:pt idx="6">
                  <c:v>1.4142135623730951</c:v>
                </c:pt>
                <c:pt idx="7">
                  <c:v>1.4142135623730951</c:v>
                </c:pt>
                <c:pt idx="8">
                  <c:v>1.4142135623730951</c:v>
                </c:pt>
                <c:pt idx="9">
                  <c:v>1.4142135623730951</c:v>
                </c:pt>
                <c:pt idx="10">
                  <c:v>1.4142135623730951</c:v>
                </c:pt>
                <c:pt idx="11">
                  <c:v>1.4142135623730951</c:v>
                </c:pt>
                <c:pt idx="12">
                  <c:v>1.4142135623730951</c:v>
                </c:pt>
                <c:pt idx="13">
                  <c:v>1.4142135623730951</c:v>
                </c:pt>
                <c:pt idx="14">
                  <c:v>1.4142135623730951</c:v>
                </c:pt>
                <c:pt idx="15">
                  <c:v>1.4142135623730951</c:v>
                </c:pt>
                <c:pt idx="16">
                  <c:v>1.4142135623730951</c:v>
                </c:pt>
                <c:pt idx="17">
                  <c:v>1.4142135623730951</c:v>
                </c:pt>
                <c:pt idx="18">
                  <c:v>1.4142135623730951</c:v>
                </c:pt>
                <c:pt idx="19">
                  <c:v>1.4142135623730951</c:v>
                </c:pt>
                <c:pt idx="20">
                  <c:v>1.4142135623730951</c:v>
                </c:pt>
                <c:pt idx="21">
                  <c:v>1.4142135623730951</c:v>
                </c:pt>
                <c:pt idx="22">
                  <c:v>1.4142135623730951</c:v>
                </c:pt>
                <c:pt idx="23">
                  <c:v>1.4142135623730951</c:v>
                </c:pt>
                <c:pt idx="24">
                  <c:v>1.4142135623730951</c:v>
                </c:pt>
                <c:pt idx="25">
                  <c:v>1.4142135623730951</c:v>
                </c:pt>
                <c:pt idx="26">
                  <c:v>1.4142135623730951</c:v>
                </c:pt>
                <c:pt idx="27">
                  <c:v>1.4142135623730951</c:v>
                </c:pt>
                <c:pt idx="28">
                  <c:v>1.4142135623730951</c:v>
                </c:pt>
                <c:pt idx="29">
                  <c:v>1.4142135623730951</c:v>
                </c:pt>
                <c:pt idx="30">
                  <c:v>1.4142135623730951</c:v>
                </c:pt>
                <c:pt idx="31">
                  <c:v>1.4142135623730951</c:v>
                </c:pt>
                <c:pt idx="32">
                  <c:v>1.4142135623730951</c:v>
                </c:pt>
                <c:pt idx="33">
                  <c:v>1.4142135623730951</c:v>
                </c:pt>
                <c:pt idx="34">
                  <c:v>1.4142135623730951</c:v>
                </c:pt>
                <c:pt idx="35">
                  <c:v>1.4142135623730951</c:v>
                </c:pt>
                <c:pt idx="36">
                  <c:v>1.4142135623730951</c:v>
                </c:pt>
                <c:pt idx="37">
                  <c:v>1.4142135623730951</c:v>
                </c:pt>
                <c:pt idx="38">
                  <c:v>1.4142135623730951</c:v>
                </c:pt>
                <c:pt idx="39">
                  <c:v>1.4142135623730951</c:v>
                </c:pt>
                <c:pt idx="40">
                  <c:v>1.4142135623730951</c:v>
                </c:pt>
                <c:pt idx="41">
                  <c:v>1.4142135623730951</c:v>
                </c:pt>
                <c:pt idx="42">
                  <c:v>1.4142135623730951</c:v>
                </c:pt>
                <c:pt idx="43">
                  <c:v>1.4142135623730951</c:v>
                </c:pt>
                <c:pt idx="44">
                  <c:v>1.4142135623730951</c:v>
                </c:pt>
                <c:pt idx="45">
                  <c:v>1.4142135623730951</c:v>
                </c:pt>
                <c:pt idx="46">
                  <c:v>1.4142135623730951</c:v>
                </c:pt>
                <c:pt idx="47">
                  <c:v>1.4142135623730951</c:v>
                </c:pt>
                <c:pt idx="48">
                  <c:v>1.4142135623730951</c:v>
                </c:pt>
                <c:pt idx="49">
                  <c:v>1.4142135623730951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номер слоя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logBase val="10"/>
          <c:orientation val="minMax"/>
          <c:max val="10"/>
          <c:min val="1e-21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отклонение выхода</a:t>
                </a:r>
              </a:p>
            </c:rich>
          </c:tx>
          <c:layout/>
          <c:overlay val="0"/>
        </c:title>
        <c:numFmt formatCode="0.E+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B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 = 1</c:v>
                </c:pt>
              </c:strCache>
            </c:strRef>
          </c:tx>
          <c:spPr>
            <a:solidFill>
              <a:srgbClr val="0F1B2D"/>
            </a:solidFill>
            <a:ln w="28575" cap="flat">
              <a:solidFill>
                <a:srgbClr val="0F1B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1B2D"/>
              </a:solidFill>
              <a:ln w="9525" cap="flat">
                <a:solidFill>
                  <a:srgbClr val="0F1B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5.17e+22</c:v>
                </c:pt>
                <c:pt idx="1">
                  <c:v>1.77e+22</c:v>
                </c:pt>
                <c:pt idx="2">
                  <c:v>6.22e+21</c:v>
                </c:pt>
                <c:pt idx="3">
                  <c:v>2.2e+21</c:v>
                </c:pt>
                <c:pt idx="4">
                  <c:v>705000000000000000000</c:v>
                </c:pt>
                <c:pt idx="5">
                  <c:v>246000000000000000000</c:v>
                </c:pt>
                <c:pt idx="6">
                  <c:v>83200000000000000000</c:v>
                </c:pt>
                <c:pt idx="7">
                  <c:v>35000000000000000000</c:v>
                </c:pt>
                <c:pt idx="8">
                  <c:v>12300000000000000000</c:v>
                </c:pt>
                <c:pt idx="9">
                  <c:v>3900000000000000000</c:v>
                </c:pt>
                <c:pt idx="10">
                  <c:v>1390000000000000000</c:v>
                </c:pt>
                <c:pt idx="11">
                  <c:v>475000000000000000</c:v>
                </c:pt>
                <c:pt idx="12">
                  <c:v>168000000000000000</c:v>
                </c:pt>
                <c:pt idx="13">
                  <c:v>56600000000000000</c:v>
                </c:pt>
                <c:pt idx="14">
                  <c:v>18300000000000000</c:v>
                </c:pt>
                <c:pt idx="15">
                  <c:v>6450000000000000</c:v>
                </c:pt>
                <c:pt idx="16">
                  <c:v>2280000000000000</c:v>
                </c:pt>
                <c:pt idx="17">
                  <c:v>869000000000000</c:v>
                </c:pt>
                <c:pt idx="18">
                  <c:v>339000000000000</c:v>
                </c:pt>
                <c:pt idx="19">
                  <c:v>143000000000000</c:v>
                </c:pt>
                <c:pt idx="20">
                  <c:v>45800000000000</c:v>
                </c:pt>
                <c:pt idx="21">
                  <c:v>18800000000000</c:v>
                </c:pt>
                <c:pt idx="22">
                  <c:v>6610000000000</c:v>
                </c:pt>
                <c:pt idx="23">
                  <c:v>2000000000000</c:v>
                </c:pt>
                <c:pt idx="24">
                  <c:v>661000000000</c:v>
                </c:pt>
                <c:pt idx="25">
                  <c:v>198000000000</c:v>
                </c:pt>
                <c:pt idx="26">
                  <c:v>72800000000</c:v>
                </c:pt>
                <c:pt idx="27">
                  <c:v>25500000000</c:v>
                </c:pt>
                <c:pt idx="28">
                  <c:v>7830000000</c:v>
                </c:pt>
                <c:pt idx="29">
                  <c:v>2640000000</c:v>
                </c:pt>
                <c:pt idx="30">
                  <c:v>830000000</c:v>
                </c:pt>
                <c:pt idx="31">
                  <c:v>264000000</c:v>
                </c:pt>
                <c:pt idx="32">
                  <c:v>92100000</c:v>
                </c:pt>
                <c:pt idx="33">
                  <c:v>34900000</c:v>
                </c:pt>
                <c:pt idx="34">
                  <c:v>13300000</c:v>
                </c:pt>
                <c:pt idx="35">
                  <c:v>4610000</c:v>
                </c:pt>
                <c:pt idx="36">
                  <c:v>1510000</c:v>
                </c:pt>
                <c:pt idx="37">
                  <c:v>513000</c:v>
                </c:pt>
                <c:pt idx="38">
                  <c:v>169000</c:v>
                </c:pt>
                <c:pt idx="39">
                  <c:v>59300</c:v>
                </c:pt>
                <c:pt idx="40">
                  <c:v>20500</c:v>
                </c:pt>
                <c:pt idx="41">
                  <c:v>6720</c:v>
                </c:pt>
                <c:pt idx="42">
                  <c:v>2230</c:v>
                </c:pt>
                <c:pt idx="43">
                  <c:v>746</c:v>
                </c:pt>
                <c:pt idx="44">
                  <c:v>246</c:v>
                </c:pt>
                <c:pt idx="45">
                  <c:v>82.7</c:v>
                </c:pt>
                <c:pt idx="46">
                  <c:v>27.5</c:v>
                </c:pt>
                <c:pt idx="47">
                  <c:v>9.01</c:v>
                </c:pt>
                <c:pt idx="48">
                  <c:v>3</c:v>
                </c:pt>
                <c:pt idx="49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Ксавье</c:v>
                </c:pt>
              </c:strCache>
            </c:strRef>
          </c:tx>
          <c:spPr>
            <a:solidFill>
              <a:srgbClr val="4C9BFF"/>
            </a:solidFill>
            <a:ln w="28575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Sheet1!$C$2:$C$51</c:f>
              <c:numCache>
                <c:formatCode>General</c:formatCode>
                <c:ptCount val="50"/>
                <c:pt idx="0">
                  <c:v>1.28</c:v>
                </c:pt>
                <c:pt idx="1">
                  <c:v>1.12</c:v>
                </c:pt>
                <c:pt idx="2">
                  <c:v>1</c:v>
                </c:pt>
                <c:pt idx="3">
                  <c:v>0.973</c:v>
                </c:pt>
                <c:pt idx="4">
                  <c:v>0.927</c:v>
                </c:pt>
                <c:pt idx="5">
                  <c:v>0.884</c:v>
                </c:pt>
                <c:pt idx="6">
                  <c:v>0.841</c:v>
                </c:pt>
                <c:pt idx="7">
                  <c:v>0.821</c:v>
                </c:pt>
                <c:pt idx="8">
                  <c:v>0.844</c:v>
                </c:pt>
                <c:pt idx="9">
                  <c:v>0.832</c:v>
                </c:pt>
                <c:pt idx="10">
                  <c:v>0.762</c:v>
                </c:pt>
                <c:pt idx="11">
                  <c:v>0.75</c:v>
                </c:pt>
                <c:pt idx="12">
                  <c:v>0.718</c:v>
                </c:pt>
                <c:pt idx="13">
                  <c:v>0.706</c:v>
                </c:pt>
                <c:pt idx="14">
                  <c:v>0.663</c:v>
                </c:pt>
                <c:pt idx="15">
                  <c:v>0.625</c:v>
                </c:pt>
                <c:pt idx="16">
                  <c:v>0.601</c:v>
                </c:pt>
                <c:pt idx="17">
                  <c:v>0.617</c:v>
                </c:pt>
                <c:pt idx="18">
                  <c:v>0.658</c:v>
                </c:pt>
                <c:pt idx="19">
                  <c:v>0.714</c:v>
                </c:pt>
                <c:pt idx="20">
                  <c:v>0.738</c:v>
                </c:pt>
                <c:pt idx="21">
                  <c:v>0.744</c:v>
                </c:pt>
                <c:pt idx="22">
                  <c:v>0.759</c:v>
                </c:pt>
                <c:pt idx="23">
                  <c:v>0.794</c:v>
                </c:pt>
                <c:pt idx="24">
                  <c:v>0.855</c:v>
                </c:pt>
                <c:pt idx="25">
                  <c:v>0.86</c:v>
                </c:pt>
                <c:pt idx="26">
                  <c:v>0.876</c:v>
                </c:pt>
                <c:pt idx="27">
                  <c:v>0.91</c:v>
                </c:pt>
                <c:pt idx="28">
                  <c:v>0.951</c:v>
                </c:pt>
                <c:pt idx="29">
                  <c:v>0.911</c:v>
                </c:pt>
                <c:pt idx="30">
                  <c:v>0.893</c:v>
                </c:pt>
                <c:pt idx="31">
                  <c:v>0.866</c:v>
                </c:pt>
                <c:pt idx="32">
                  <c:v>0.776</c:v>
                </c:pt>
                <c:pt idx="33">
                  <c:v>0.777</c:v>
                </c:pt>
                <c:pt idx="34">
                  <c:v>0.809</c:v>
                </c:pt>
                <c:pt idx="35">
                  <c:v>0.762</c:v>
                </c:pt>
                <c:pt idx="36">
                  <c:v>0.754</c:v>
                </c:pt>
                <c:pt idx="37">
                  <c:v>0.846</c:v>
                </c:pt>
                <c:pt idx="38">
                  <c:v>0.801</c:v>
                </c:pt>
                <c:pt idx="39">
                  <c:v>0.827</c:v>
                </c:pt>
                <c:pt idx="40">
                  <c:v>0.775</c:v>
                </c:pt>
                <c:pt idx="41">
                  <c:v>0.74</c:v>
                </c:pt>
                <c:pt idx="42">
                  <c:v>0.758</c:v>
                </c:pt>
                <c:pt idx="43">
                  <c:v>0.767</c:v>
                </c:pt>
                <c:pt idx="44">
                  <c:v>0.812</c:v>
                </c:pt>
                <c:pt idx="45">
                  <c:v>0.787</c:v>
                </c:pt>
                <c:pt idx="46">
                  <c:v>0.84</c:v>
                </c:pt>
                <c:pt idx="47">
                  <c:v>0.923</c:v>
                </c:pt>
                <c:pt idx="48">
                  <c:v>0.936</c:v>
                </c:pt>
                <c:pt idx="49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номер слоя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logBase val="10"/>
          <c:orientation val="minMax"/>
          <c:max val="1e+24"/>
          <c:min val="0.1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норма градиента / у слоя 50</a:t>
                </a:r>
              </a:p>
            </c:rich>
          </c:tx>
          <c:layout/>
          <c:overlay val="0"/>
        </c:title>
        <c:numFmt formatCode="0.E+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B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Продолжаем второй блок. На прошлом занятии мы разобрались, как оптимизатор делает шаг. Сегодня вопрос, который встает еще до первого шага: с каких весов начинать и как сделать, чтобы сигнал проходил через десятки слоев, не затухая и не взрываясь. Справа на картинке гистограммы выходов слоев сети: голубые сохраняют форму от первого слоя до пятидесятого, серые контуры сжимаются к нулю. К концу занятия каждый должен уметь посчитать, во сколько раз слой меняет дисперсию сигнала, объяснить формулы Ксавье и Кайминга, рассказать, как работает пакетная нормализация в двух режимах, и написать свой слой пакетной нормализации.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Прочитайте вопрос и дайте классу минуту на версии. Обычно звучит: «маленькая скорость обучения», «сеть переобучилась», «ошибка в данных». Покажите на картинку: кружки слева – нейроны слоев, от входа к выходу они тускнеют, сигнал затухает. Если на выходе почти ноль, сеть отвечает одним смещением, то есть одинаково на любую картинку, а градиент первых слоев пропорционален их вкладу в выход и тоже почти нулевой. Спросите: «Что в сети определяет, насколько сильно слой усиливает или ослабляет сигнал?» (ожидаемый ответ: веса, их величина). Скажите, что сегодня научимся считать это заранее, по формуле, а потом встроим в сеть слой, который сам держит сигнал в рабочем диапазоне.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До сих пор мы доверяли PyTorch: слой создается, и веса в нем уже какие-то случайные. Сейчас разберемся, почему они случайные, почему маленькие и как именно маленькие. Ответ дает простая формула для дисперсии суммы, которую мы выведем за пять минут.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Нарисуйте на доске сеть 2 → 2 → 1 и подпишите все веса числом 0.5. Спросите: «Чем отличаются два скрытых нейрона?» (ничем: одни и те же входы, одни и те же веса). Значит, у них одинаковый выход, одинаковый вклад в ошибку и одинаковый градиент; после шага веса снова совпадут. Сколько бы шагов ни прошло, нейроны останутся копиями, и слой из ста нейронов будет работать как один (Гудфеллоу, раздел 8.4: начальные параметры должны «нарушить симметрию»). Спросите: «А если все веса нулевые?» (еще хуже: выходы скрытых нейронов нулевые, градиенты всех весов, кроме смещения выхода, тоже нулевые, сеть не сдвигается с места). Вывод: веса начинают со случайных значений, а смещения можно начинать с нуля, потому что симметрию уже нарушили веса. Задание Н1.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Данные: x = (1, 2), правильный ответ y = 1, потеря (ŷ − y)², ReLU, без смещений, все веса 0.5. Шаг 1, прямой проход: у обоих скрытых нейронов z = 0.5·1 + 0.5·2 = 1.5, после ReLU h = 1.5; выход ŷ = 0.5·1.5 + 0.5·1.5 = 1.5. Шаг 2, обратный проход: ∂L/∂ŷ = 2·(1.5 − 1) = 1. Градиент весов выходного нейрона равен входам этого нейрона: (h₁, h₂) = (1.5, 1.5). Градиент строки весов скрытого нейрона: 1 (от выхода) · 0.5 (вес к выходу) · 1 (производная ReLU) · x = (0.5, 1), у обоих одинаковый. Итог после шага η = 0.1: обе строки равны (0.5 − 0.05, 0.5 − 0.1) = (0.45, 0.4). Дополнительное задание классу: сделайте второй шаг и убедитесь, что строки снова совпадут (новый вес выхода 0.35, новый z = 0.45 + 0.8 = 1.25, новый выход ŷ = 2·0.35·1.25 = 0.875). Проверка – задание Н1; там же видно, что сеть из восьми одинаковых нейронов не решает XOR из Б1.1.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Выведите формулу на доске. Выход нейрона z = Σ wᵢxᵢ, всего n слагаемых. Пусть веса и входы независимы, средние у них нулевые, дисперсия весов σ², дисперсия входов Var(x). Тогда дисперсия одного произведения wᵢxᵢ равна σ²·Var(x), а дисперсия суммы независимых слагаемых равна сумме дисперсий: Var(z) = n·σ²·Var(x). Значит, за слой дисперсия умножается на n·σ², а стандартное отклонение на √n·σ; через L слоев множители перемножаются. На графике три сети по 20 слоев с 256 входами: при σ = 0.05 линия идет вниз, при σ = 0.1 вверх, при σ = 1/16 горизонтально. Ось логарифмическая, поэтому показательная функция выглядит прямой. Спросите: «Что происходит с градиентом при обратном проходе?» (градиент по входу слоя равен Wᵀ·δ, его дисперсия умножается на n_out·σ²; затухание вперед обычно означает затухание назад). Задание Н2.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√256 = 16, поэтому за слой отклонение умножается на 16·σ. Первая карточка: σ = 0.05, множитель 0.8, за 20 слоев 0.8²⁰ ≈ 0.0115 – сигнал затух почти в сто раз. Вторая: σ = 1/16 = 0.0625, множитель ровно 1 – сигнал сохраняется на любой глубине. Третья: σ = 0.1, множитель 1.6, 1.6²⁰ ≈ 12 089 – взрыв. Посчитайте с классом на калькуляторе: 0.8¹⁰ ≈ 0.107, 1.6¹⁰ ≈ 110. Вывод-правило: σ = 1/√n, чем шире слой, тем меньше должны быть веса. Дополнительное задание: какое σ нужно для слоя с 1024 входами (ответ: 1/32 ≈ 0.031) и сколько слоев с множителем 0.8 уменьшат сигнал в 1000 раз (ответ: ln 1000 / ln 1.25 ≈ 31). Проверка – задание Н2: функция predicted_std и измерения на случайной сети.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гистограммы выходов слоев сети из 50 слоев по 256 нейронов с tanh. Верхний ряд, σ = 0.01: около нуля tanh z ≈ z, поэтому сеть ведет себя как линейная с множителем 16·0.01 = 0.16, и уже к десятому слою все значения сидят в нуле. Средний ряд, σ = 1: множитель огромный, но tanh не дает значениям вырасти больше 1, и они прилипают к ±1. Это насыщение: производная 1 − tanh² почти нулевая, градиент через такие нейроны не проходит, а нейрон превращается в «переключатель» со знаком входа. Нижний ряд, Ксавье (σ = 1/16): распределение остается в рабочем диапазоне и лишь медленно сужается, потому что tanh чуть сжимает сигнал; PyTorch советует умножать масштаб для tanh на 5/3, тогда форма почти не меняется. Спросите: «Почему при σ = 1 сигнал не взрывается, но сеть все равно плохая?» Задание Н2, готовая ячейка с гистограммами.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главные формулы. Ксавье (Глоро и Бенжио, 2010; Гудфеллоу, формула 8.23): хотим, чтобы дисперсия сохранялась и при прямом проходе (n_in·σ² = 1), и при обратном (n_out·σ² = 1); оба условия сразу не выполнить, поэтому берут среднее: σ² = 2/(n_in + n_out). Обычно веса берут равномерно из [−a, a]; дисперсия такого распределения a²/3, отсюда a = √(6/(n_in + n_out)). Формула выведена для сети без нелинейностей и подходит для tanh, сигмоиды и линейных слоев. Кайминг (Хе и соавторы, 2015): ReLU обнуляет отрицательную половину, и средний квадрат выхода вдвое меньше дисперсии входа ReLU. Чтобы вернуть потерянную половину, дисперсию весов удваивают: σ = √(2/n_in). Для сверточного слоя нейрон видит C_in·k·k чисел. Посчитайте с классом для Conv2d(8, 16, 3): n_in = 72, n_out = 144, граница Ксавье √(6/216) = 1/6, отклонение Кайминга √(2/72) = 1/6 – совпадение случайное. Спросите: «Какую инициализацию взять для SimpleCNN?» (Кайминга, там ReLU). Задание Н3, главное задание.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График по формулам, на опыте то же самое получается в задании Н3. По умолчанию PyTorch берет веса nn.Linear и nn.Conv2d равномерно из [−1/√n, 1/√n] – это первая эвристика из раздела 8.4 Гудфеллоу. Дисперсия такого распределения 1/(3n), ReLU оставляет половину: множитель дисперсии за слой 1/6, отклонения √(1/6) ≈ 0.41, за 50 слоев около 10⁻²⁰. У Ксавье множитель отклонения √(1/2) ≈ 0.71, за 50 слоев около 3·10⁻⁸. У Кайминга множитель 1, линия горизонтальная (на первом слое √2 ≈ 1.4, потому что вход – не выход ReLU и половина не теряется). Подчеркните: для неглубоких сетей вроде SimpleCNN инициализация по умолчанию не мешает, а для десятков слоев без нормализации мешает сильно. Спросите: «Почему у Кайминга на первом слое 1.4, а не 1?»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Сигнал идет не только вперед. При обучении градиент идет назад через те же самые матрицы весов, и с ним происходит то же самое: он затухает или взрывается. С затуханием градиента во времени мы уже встречались в рекуррентных сетях (Б1.5); теперь посмотрим на глубину.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Напомните из Б1.2: градиент по входу слоя равен Wᵀ, умноженной на градиент по выходу, и еще на производную функции активации. Значит, при обратном проходе градиент на каждом слое умножается на матрицу весов, как сигнал при прямом. На графике tanh-сеть из 50 слоев сразу после инициализации; по вертикали – во сколько раз норма градиента весов слоя больше, чем у последнего слоя. При σ = 1 у первого слоя градиент в 10²² раз больше: множитель n_out·σ² = 256 огромен, и даже насыщение его не гасит. Первый же шаг SGD унесет веса первых слоев в бесконечность, потеря станет nan. С Ксавье все слои получают градиенты одного порядка и учатся с одной скоростью. Спросите: «Что будет с градиентами при σ = 0.01?» (они практически нулевые у всех слоев: сигнал погас еще при прямом проходе, а градиент весов пропорционален входу слоя). Задание Н4.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функции потерь глубокой и особенно рекуррентной сети бывают «утесы» – участки, где потеря резко меняется и градиент огромен (Гудфеллоу, разделы 8.2.4 и 10.11.1). Шаг по такому градиенту уносит веса далеко от хорошей области, на рисунке это серая стрелка. Простая защита: если общая норма градиента больше порога c, градиент уменьшают до длины c, сохраняя направление (голубая стрелка). Посчитайте с классом: g = (3, 4), ‖g‖ = √(9 + 16) = 5; при c = 1 делим на 5 и получаем (0.6, 0.8). Подчеркните три момента: норма считается по всем параметрам сети сразу; направление не меняется; в отличие от уменьшения скорости обучения, отсечение срабатывает только на редких огромных шагах и обычные шаги не замедляет. В PyTorch функцию clip_grad_norm_ вызывают между backward() и step(). Дополнительное задание: g = (6, 8), c = 5 (ответ: (3, 4)). Задание Н4.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Хорошая инициализация задает удачный масштаб только в начале. Дальше все слои меняются одновременно, и распределение выходов каждого слоя «плывет» под следующими слоями. Идея пакетной нормализации: не надеяться на удачные веса, а прямо в сети приводить выход каждого нейрона к среднему 0 и дисперсии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Выпишите четыре формулы (Иоффе и Сегеди, 2015; Гудфеллоу, раздел 8.7.1, в русском переводе метод называется «пакетная нормировка»). Для каждого нейрона по мини-пакету из m объектов: среднее μ_B, дисперсия σ²_B (деление на m), нормализация ĥ = (h − μ_B)/√(σ²_B + ε), затем масштаб и сдвиг y = γ·ĥ + β. Спросите: «Зачем γ и β, если мы только что привели все к 0 и 1?» (ожидаемый ответ: чтобы не лишить сеть выразительности; при γ = σ_B и β = μ_B слой вернет исходные значения, то есть сеть сама решает, нужна ли нормализация). γ и β обучаются оптимизатором вместе с весами, начальные значения 1 и 0. ε = 10⁻⁵ защищает от деления на ноль. Подчеркните главное отличие от «предобработки» данных из 9 класса: градиент проходит и через μ_B, σ_B, нормализация – часть графа вычислений, и сеть учится с ней, а не вопреки 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Выход одного нейрона на четырех картинках пакета: 3, 5, 5, 11; γ = 2, β = 0.5. Шаг 1: среднее (3 + 5 + 5 + 11)/4 = 6; отклонения от среднего −3, −1, −1, 5; их квадраты 9, 1, 1, 25; дисперсия 36/4 = 9, отклонение 3. Шаг 2: ĥ = (h − 6)/3 = (−1, −0.33, −0.33, 1.67); проверьте с классом, что среднее ĥ равно 0, а средний квадрат 1. Итог: y = 2·ĥ + 0.5 = (−1.5, −0.17, −0.17, 3.83). ε = 10⁻⁵ на третьем знаке не сказывается. Дополнительное задание классу: пакет (2, 4, 6, 8) при γ = 1, β = 0 (ответ: μ = 5, σ² = 5, ĥ ≈ (−1.34, −0.45, 0.45, 1.34)). Проверка – задание Н5: MyBatchNorm на тензоре формы (4,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порядок в блоке: свертка, нормализация, ReLU, пулинг. Нормализацию ставят после линейного или сверточного слоя и перед функцией активации. Спросите: «Зачем свертке смещение, если следующий слой вычтет среднее?» (незачем: любое постоянное смещение канала уйдет вместе со средним, а сдвиг вернет β), поэтому пишут bias=False. У сверточного слоя нормализуется каждый канал целиком: среднее и дисперсия считаются по всем объектам пакета и всем позициям картинки, это N·H·W чисел. Например, для пакета из 64 картинок 14×14 – по 12 544 числам на канал. Свои γ и β у каждого канала: у BatchNorm2d(16) 32 параметра. У полносвязного слоя BatchNorm1d считает статистику по N объектам. Задание Н6: SimpleCNN с такими блоками.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обучении слой берет статистику текущего пакета. При применении объект может быть один, и ответ не должен зависеть от соседей по пакету. Поэтому во время обучения слой копит скользящие средние: running_mean ← 0.9·running_mean + 0.1·μ_B, и так же для дисперсии. Обратите внимание: в PyTorch momentum = 0.1 – это вес нового значения, а у импульса в Б2.1 β = 0.9 был весом старого. Посчитайте с классом для нашего пакета: начальные значения 0 и 1; running_mean = 0.9·0 + 0.1·6 = 0.6; в скользящее среднее кладется несмещенная дисперсия 36/3 = 12, поэтому running_var = 0.9·1 + 0.1·12 = 2.1. В режиме применения для h = 3: (3 − 0.6)/√2.1 ≈ 1.66, после γ = 2 и β = 0.5 получается 3.81. Спросите: «Сколько шагов на одном и том же пакете нужно, чтобы running_mean подошло к 6 ближе чем на 1 %?» (0.9ᵗ &lt; 0.01, t = 44). Переключают режимы model.train() и model.eval(). Забытый model.eval() – одна из самых частых ошибок: ответ на картинку зависит от состава пакета, а тестовые данные портят скользящие средние. Задания Н5 и Н6.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Сведите плюсы и минусы. Помогает: скорость обучения можно брать больше, сеть меньше зависит от начальных весов, потеря падает быстрее, шум статистики пакета немного регуляризует (об этом подробнее на следующем занятии). Мешает: при маленьких пакетах из 2–4 объектов статистика очень шумная; поведение в обучении и применении разное, отсюда ошибки с model.eval(); нужны лишние вычисления и память; в рекуррентных сетях и трансформерах пакетная нормализация неудобна, там используют нормализацию по слою. Отдельно скажите, что причина успеха пакетной нормализации до сих пор обсуждается: авторы объясняли это борьбой со «сдвигом распределений» между слоями, позже Сантуркар и соавторы (2018) показали, что главное, по-видимому, в том, что поверхность потерь становится более гладкой. Спросите: «Почему при пакете из одного объекта слой в режиме обучения бесполезен?» (μ_B = h, выход всегда равен β).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Нарисуйте таблицу: строки – объекты пакета, столбцы – признаки (нейроны слоя). Пакетная нормализация берет столбец: один признак по всем объектам пакета. Нормализация по слою (Ба, Кирос, Хинтон, 2016) берет строку: все признаки одного объекта. Формулы те же, другая ось. Из-за этого нормализация по слою не зависит от размера пакета, одинаково работает в обучении и применении и не требует скользящих средних. Именно она стоит в каждом блоке трансформера, с которым мы встретимся в Теме 2, и часто в рекуррентных сетях. Спросите: «Какую нормализацию взять, если пакет из одного объекта?» (по слою). В PyTorch – nn.LayerNorm(C). Задание повышенной сложности 2: свой MyLayerNorm.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Практика устроена как обычно: сначала на тензорах проверяем симметрию и формулу n·σ², пишем свои инициализации и отсечение градиента и сверяем числа со слайдами. Затем пишем свой слой пакетной нормализации, сверяем его с PyTorch и встраиваем готовую нормализацию в SimpleCNN из части 4А.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«Как это хранится в коде». Распечатайте с классом state_dict слоя BatchNorm2d(8). weight и bias – это γ и β, они в model.parameters(), и их обновляет оптимизатор. running_mean и running_var – буферы: их создают через register_buffer, оптимизатор их не трогает, но они сохраняются в state_dict, загружаются вместе с моделью и переезжают на видеокарту вместе с model.to(device). num_batches_tracked – счетчик шагов обучения. Флаг self.training есть у любого nn.Module, его переключают model.train() и model.eval(), причем рекурсивно для всех вложенных слоев. Спросите: «Что будет, если сохранить только параметры модели, без буферов?» (после загрузки скользящие средние будут 0 и 1, и в режиме применения сеть начнет ошибаться). У SimpleCNN_BN на 24 параметра больше, чем у SimpleCNN: смещения сверток 8 + 16 ушли, γ и β 2·(8 + 16) пришли. Задания Н5 и Н6.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плану практики. Н1 – constant_init_ и row_spread: сеть 2 → 2 → 1 со слайда и XOR, при постоянной инициализации точность не выше 0.75, при случайной 1.0. Н2 – init_normal_, layer_stds и predicted_std: прогнозы 0.0115, 1 и 12 089 и гистограммы tanh-сети. Н3 – fans, xavier_uniform_ и kaiming_normal_ со сверкой с torch.nn.init и сравнением трех инициализаций в ReLU-сети из 50 слоев (главное задание). Н4 – grad_norms и my_clip_grad_norm_: градиенты (3, 0) и (0, 4) при пороге 2.5 становятся (1.5, 0) и (0, 2). Н5 – свой слой MyBatchNorm с двумя режимами и сверкой с nn.BatchNorm1d и nn.BatchNorm2d (главное задание). Н6 – SimpleCNN_BN, обучение с нормализацией и без нее при трех скоростях обучения и опыт с режимами train и eval. Правило части: в Н1–Н4 только тензоры, готовые функции PyTorch – только для сверки.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двух-трех учеников объяснить, почему нельзя начинать с одинаковых весов и почему сигнал в глубокой сети затухает или взрывается. Тема усвоена, если звучат слова «симметрия», «множитель n·σ²», «Ксавье для tanh, Кайминг для ReLU», «насыщение», «отсечение градиента», «нормализация по пакету: среднее, дисперсия, γ и β», «скользящие средние и model.eval()», «нормализация по слою». Пройдитесь по шести пунктам и анонсируйте следующее занятие: сеть, которая хорошо учится, еще не значит сеть, которая хорошо работает на новых данных; поговорим о переобучении и регуляризации – штрафе на веса, прореживании и ранней остановке.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22/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10 КЛАСС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Инициализация и нормализация: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не потерять сигнал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3611880"/>
            <a:ext cx="457200" cy="402336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школа «УникУм», КузГТУ им. Т. Ф. Горбачева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22/img/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1078992"/>
            <a:ext cx="566928" cy="502920"/>
          </a:xfrm>
          <a:prstGeom prst="hexagon">
            <a:avLst/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754880" y="107899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7373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«Сеть из 50 слоев на любую картинку выдает один и тот же ответ, а веса первых слоев не меняются. Что сломалось?»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3383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верная, оптимизатор – Adam из прошлого занятия, данные в порядке. Подсказка: посмотрите на кружки слева – это выходы слоев от входа к выходу.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22/img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Начальные веса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Симметрия, затухание и взрыв сигнала, инициализации Ксавье и Кайминга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СИММЕТРИЯ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Одинаковые веса – одинаковые нейроны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39319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06424" y="1792224"/>
            <a:ext cx="1325880" cy="914"/>
          </a:xfrm>
          <a:prstGeom prst="line">
            <a:avLst/>
          </a:prstGeom>
          <a:noFill/>
          <a:ln w="15875">
            <a:solidFill>
              <a:srgbClr val="B7BCC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06424" y="1792224"/>
            <a:ext cx="1325880" cy="1188720"/>
          </a:xfrm>
          <a:prstGeom prst="line">
            <a:avLst/>
          </a:prstGeom>
          <a:noFill/>
          <a:ln w="15875">
            <a:solidFill>
              <a:srgbClr val="B7BCC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1106424" y="1792224"/>
            <a:ext cx="1325880" cy="1188720"/>
          </a:xfrm>
          <a:prstGeom prst="line">
            <a:avLst/>
          </a:prstGeom>
          <a:noFill/>
          <a:ln w="15875">
            <a:solidFill>
              <a:srgbClr val="B7BC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06424" y="2980944"/>
            <a:ext cx="1325880" cy="914"/>
          </a:xfrm>
          <a:prstGeom prst="line">
            <a:avLst/>
          </a:prstGeom>
          <a:noFill/>
          <a:ln w="15875">
            <a:solidFill>
              <a:srgbClr val="B7BCC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32304" y="1792224"/>
            <a:ext cx="1325880" cy="594360"/>
          </a:xfrm>
          <a:prstGeom prst="line">
            <a:avLst/>
          </a:prstGeom>
          <a:noFill/>
          <a:ln w="15875">
            <a:solidFill>
              <a:srgbClr val="B7BCC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2432304" y="2386584"/>
            <a:ext cx="1325880" cy="594360"/>
          </a:xfrm>
          <a:prstGeom prst="line">
            <a:avLst/>
          </a:prstGeom>
          <a:noFill/>
          <a:ln w="15875">
            <a:solidFill>
              <a:srgbClr val="B7BCC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1600200"/>
            <a:ext cx="384048" cy="384048"/>
          </a:xfrm>
          <a:prstGeom prst="ellipse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4400" y="2788920"/>
            <a:ext cx="384048" cy="384048"/>
          </a:xfrm>
          <a:prstGeom prst="ellipse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240280" y="1600200"/>
            <a:ext cx="384048" cy="384048"/>
          </a:xfrm>
          <a:prstGeom prst="ellipse">
            <a:avLst/>
          </a:prstGeom>
          <a:solidFill>
            <a:srgbClr val="4C9BFF"/>
          </a:solidFill>
          <a:ln w="9525">
            <a:solidFill>
              <a:srgbClr val="4C9B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402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240280" y="2788920"/>
            <a:ext cx="384048" cy="384048"/>
          </a:xfrm>
          <a:prstGeom prst="ellipse">
            <a:avLst/>
          </a:prstGeom>
          <a:solidFill>
            <a:srgbClr val="4C9BFF"/>
          </a:solidFill>
          <a:ln w="9525">
            <a:solidFill>
              <a:srgbClr val="4C9B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2402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566160" y="2194560"/>
            <a:ext cx="384048" cy="384048"/>
          </a:xfrm>
          <a:prstGeom prst="ellipse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661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417320" y="12984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веса 0.5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3310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и h₂ – копии: одинаковые входы и веса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754880" y="1188720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54880" y="11887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349240" y="1170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Одинаковый выход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3492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нейрона считают z = 0.5·1 + 0.5·2 = 1.5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54880" y="2011680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54880" y="20116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534924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Одинаковый градиент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34924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 в ошибку один и тот же, строки весов получают (0.5, 1)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54880" y="2834640"/>
            <a:ext cx="457200" cy="402336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754880" y="28346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349240" y="2816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Одинаковый шаг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34924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шага веса снова равны – и так всегда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57200" y="3886200"/>
            <a:ext cx="8229600" cy="658368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58368" y="4014216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58368" y="40142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1280160" y="388620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– случайные веса. </a:t>
            </a:r>
            <a:pPr algn="l" indent="0" marL="0">
              <a:buNone/>
            </a:pPr>
            <a:r>
              <a:rPr lang="en-US" sz="10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Нейроны с разными весами получают разные градиенты и учат разное. Смещения можно начинать с нуля.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копии одного нейрона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987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(1, 2), y = 1, L = (ŷ − y)², ReLU, все веса 0.5, шаг η = 0.1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606040" cy="2331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46120" y="1371600"/>
            <a:ext cx="2606040" cy="2331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0" y="1371600"/>
            <a:ext cx="2651760" cy="23317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8368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· ПРЯМОЙ ПРОХОД</a:t>
            </a:r>
            <a:endParaRPr lang="en-US" sz="7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874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pPr algn="l" indent="0" marL="0">
              <a:spcAft>
                <a:spcPts val="800"/>
              </a:spcAft>
              <a:buNone/>
            </a:pPr>
            <a:r>
              <a:rPr lang="en-US" sz="110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z</a:t>
            </a:r>
            <a:pPr algn="l" indent="0" marL="0">
              <a:spcAft>
                <a:spcPts val="800"/>
              </a:spcAft>
              <a:buNone/>
            </a:pPr>
            <a:r>
              <a:rPr lang="en-US" sz="110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0.5·1 + 0.5·2 = 1.5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algn="l" indent="0" marL="0">
              <a:spcAft>
                <a:spcPts val="800"/>
              </a:spcAft>
              <a:buNone/>
            </a:pPr>
            <a:r>
              <a:rPr lang="en-US" sz="110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</a:t>
            </a:r>
            <a:pPr algn="l" indent="0" marL="0">
              <a:spcAft>
                <a:spcPts val="800"/>
              </a:spcAft>
              <a:buNone/>
            </a:pPr>
            <a:r>
              <a:rPr lang="en-US" sz="110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ReLU(1.5) = 1.5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0.5·1.5 + 0.5·1.5 = 1.5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нейроны неразличимы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47288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· ГРАДИЕНТЫ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3447288" y="18745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∂L/∂ŷ = 2·(1.5 − 1) = 1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выход: (h</a:t>
            </a:r>
            <a:pPr algn="l" indent="0" marL="0">
              <a:spcAft>
                <a:spcPts val="600"/>
              </a:spcAft>
              <a:buNone/>
            </a:pPr>
            <a:r>
              <a:rPr lang="en-US" sz="110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</a:t>
            </a:r>
            <a:pPr algn="l" indent="0" marL="0">
              <a:spcAft>
                <a:spcPts val="600"/>
              </a:spcAft>
              <a:buNone/>
            </a:pPr>
            <a:r>
              <a:rPr lang="en-US" sz="110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(1.5, 1.5)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 слоя 1: 1·0.5·1·x</a:t>
            </a:r>
            <a:endParaRPr lang="en-US" sz="1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(0.5, 1) и (0.5, 1)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447288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градиенты одинаковые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236208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ПОСЛЕ ШАГА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6236208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(0.45, 0.4)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(0.45, 0.4)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236208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 снова равны: слой работает как один нейрон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– задание Н1: constant_init_, row_spread. Нулевые веса еще хуже: градиенты всех весов равны нулю.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ДИСПЕРСИЯ СУММЫ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Слой умножает дисперсию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Var(z) = n · σ</a:t>
            </a:r>
            <a:pPr algn="r" indent="0" marL="0">
              <a:buNone/>
            </a:pPr>
            <a:r>
              <a:rPr lang="en-US" sz="1400" b="1" baseline="3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Var(x)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– число входов нейрона, σ – отклонение весов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097280"/>
          <a:ext cx="50292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4315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256, без функции активации, вход с отклонением 1; ось – логарифмическая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172200" y="1207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Σ w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·x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172200" y="15179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слагаемых; веса и входы независимы, средние 0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172200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Дисперсии складываются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2951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Var(w</a:t>
            </a:r>
            <a:pPr algn="l" indent="0" marL="0">
              <a:buNone/>
            </a:pPr>
            <a:r>
              <a:rPr lang="en-US" sz="900" baseline="-4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algn="l" indent="0" marL="0">
              <a:buNone/>
            </a:pPr>
            <a:r>
              <a:rPr lang="en-US" sz="900" baseline="-4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σ</a:t>
            </a:r>
            <a:pPr algn="l" indent="0" marL="0">
              <a:buNone/>
            </a:pPr>
            <a:r>
              <a:rPr lang="en-US" sz="900" baseline="3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·Var(x), слагаемых n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66928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17220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Слои перемножают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172200" y="30723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L слоев: std = (√n·σ)</a:t>
            </a:r>
            <a:pPr algn="l" indent="0" marL="0">
              <a:buNone/>
            </a:pPr>
            <a:r>
              <a:rPr lang="en-US" sz="900" baseline="3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5669280" y="3520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617220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Назад – так же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172200" y="384962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градиент: множитель n</a:t>
            </a:r>
            <a:pPr algn="l" indent="0" marL="0">
              <a:buNone/>
            </a:pPr>
            <a:r>
              <a:rPr lang="en-US" sz="900" baseline="-4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·σ</a:t>
            </a:r>
            <a:pPr algn="l" indent="0" marL="0">
              <a:buNone/>
            </a:pPr>
            <a:r>
              <a:rPr lang="en-US" sz="900" baseline="3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Двадцать слоев по 256 входов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987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√256 = 16: за слой отклонение умножается на 16·σ, за 20 слоев – на (16·σ)</a:t>
            </a:r>
            <a:pPr algn="l" indent="0" marL="0">
              <a:buNone/>
            </a:pPr>
            <a:r>
              <a:rPr lang="en-US" sz="1000" baseline="30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6060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8368" y="1536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0.05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0.0115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затух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16·0.05 = 0.8;  0.8</a:t>
            </a:r>
            <a:pPr algn="l" indent="0" marL="0">
              <a:buNone/>
            </a:pPr>
            <a:r>
              <a:rPr lang="en-US" sz="950" baseline="3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68980" y="1371600"/>
            <a:ext cx="2606040" cy="2057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470148" y="1536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1/16 = 0.0625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3470148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3470148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сохранился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470148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16·0.0625 = 1;  1</a:t>
            </a:r>
            <a:pPr algn="l" indent="0" marL="0">
              <a:buNone/>
            </a:pPr>
            <a:r>
              <a:rPr lang="en-US" sz="950" baseline="3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pPr algn="l"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80760" y="1371600"/>
            <a:ext cx="2606040" cy="2057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281928" y="1536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0.1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6281928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12 089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6281928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взорвался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281928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16·0.1 = 1.6;  1.6</a:t>
            </a:r>
            <a:pPr algn="l" indent="0" marL="0">
              <a:buNone/>
            </a:pPr>
            <a:r>
              <a:rPr lang="en-US" sz="950" baseline="300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3657600"/>
            <a:ext cx="8229600" cy="6858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8368" y="3794760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37947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36576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σ = 1/√n. </a:t>
            </a:r>
            <a:pPr algn="l" indent="0" marL="0">
              <a:buNone/>
            </a:pPr>
            <a:r>
              <a:rPr lang="en-US" sz="10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шире слой, тем меньше веса. Для слоя с 1024 входами σ = 1/32 ≈ 0.031.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И НАСЫЩЕНИЕ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активации меняет картину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Image 0" descr="/home/claude/b22/img/tanh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486400" cy="2971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114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из 50 слоев по 256 нейронов, tanh: гистограммы выходов слоев 1, 10, 30, 50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172200" y="1188720"/>
            <a:ext cx="502920" cy="438912"/>
          </a:xfrm>
          <a:prstGeom prst="hexagon">
            <a:avLst/>
          </a:prstGeom>
          <a:solidFill>
            <a:srgbClr val="E1E3E5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172200" y="11887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6766560" y="1170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Затухание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766560" y="1463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нуля tanh z ≈ z: сигнал гаснет, как в линейной сети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172200" y="2103120"/>
            <a:ext cx="502920" cy="438912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72200" y="21031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Насыщение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766560" y="2377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у ±1, производная 1 − tanh</a:t>
            </a:r>
            <a:pPr algn="l" indent="0" marL="0">
              <a:buNone/>
            </a:pPr>
            <a:r>
              <a:rPr lang="en-US" sz="900" baseline="3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0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72200" y="301752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172200" y="30175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1/16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676656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Ксавье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766560" y="32918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диапазон; с множителем 5/3 почти не сужается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ФОРМУЛЫ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Инициализации Ксавье и Кайминга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3931920" cy="23774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Ксавье (Глоро, 2010)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pPr algn="l" indent="0" marL="0">
              <a:buNone/>
            </a:pPr>
            <a:r>
              <a:rPr lang="en-US" sz="1800" b="1" baseline="30000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l" indent="0" marL="0">
              <a:buNone/>
            </a:pPr>
            <a:r>
              <a:rPr lang="en-US" sz="18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2 / (n</a:t>
            </a:r>
            <a:pPr algn="l" indent="0" marL="0">
              <a:buNone/>
            </a:pPr>
            <a:r>
              <a:rPr lang="en-US" sz="1800" b="1" baseline="-40000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pPr algn="l" indent="0" marL="0">
              <a:buNone/>
            </a:pPr>
            <a:r>
              <a:rPr lang="en-US" sz="18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n</a:t>
            </a:r>
            <a:pPr algn="l" indent="0" marL="0">
              <a:buNone/>
            </a:pPr>
            <a:r>
              <a:rPr lang="en-US" sz="1800" b="1" baseline="-40000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</a:t>
            </a:r>
            <a:pPr algn="l" indent="0" marL="0">
              <a:buNone/>
            </a:pPr>
            <a:r>
              <a:rPr lang="en-US" sz="1800" b="1" dirty="0">
                <a:solidFill>
                  <a:srgbClr val="1F6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2402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равномерно: a = √(6 / (n</a:t>
            </a:r>
            <a:pPr algn="l" indent="0" marL="0">
              <a:spcAft>
                <a:spcPts val="400"/>
              </a:spcAft>
              <a:buNone/>
            </a:pPr>
            <a:r>
              <a:rPr lang="en-US" sz="100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n</a:t>
            </a:r>
            <a:pPr algn="l" indent="0" marL="0">
              <a:spcAft>
                <a:spcPts val="400"/>
              </a:spcAft>
              <a:buNone/>
            </a:pPr>
            <a:r>
              <a:rPr lang="en-US" sz="100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))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tanh, сигмоиды и линейных слоев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tanh масштаб умножают на 5/3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143000"/>
            <a:ext cx="3931920" cy="23774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98348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Кайминг (Хе, 2015)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√(2 / n</a:t>
            </a:r>
            <a:pPr algn="l" indent="0" marL="0">
              <a:buNone/>
            </a:pPr>
            <a:r>
              <a:rPr lang="en-US" sz="18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22402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обнуляет половину: E[h</a:t>
            </a:r>
            <a:pPr algn="l" indent="0" marL="0">
              <a:spcAft>
                <a:spcPts val="400"/>
              </a:spcAft>
              <a:buNone/>
            </a:pPr>
            <a:r>
              <a:rPr lang="en-US" sz="1000" baseline="300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= Var(z) / 2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множитель 2 возвращает потерянную половину</a:t>
            </a:r>
            <a:endParaRPr lang="en-US" sz="1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ReLU и ее родственников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730752"/>
            <a:ext cx="82296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" y="3904488"/>
            <a:ext cx="457200" cy="402336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39044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k²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730752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Свертка: n</a:t>
            </a:r>
            <a:pPr algn="l" indent="0" marL="0">
              <a:buNone/>
            </a:pPr>
            <a:r>
              <a:rPr lang="en-US" sz="105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algn="l"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</a:t>
            </a:r>
            <a:pPr algn="l" indent="0" marL="0">
              <a:buNone/>
            </a:pPr>
            <a:r>
              <a:rPr lang="en-US" sz="105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algn="l"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·k</a:t>
            </a:r>
            <a:pPr algn="l" indent="0" marL="0">
              <a:buNone/>
            </a:pPr>
            <a:r>
              <a:rPr lang="en-US" sz="1050" baseline="3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</a:t>
            </a:r>
            <a:pPr algn="l" indent="0" marL="0">
              <a:buNone/>
            </a:pPr>
            <a:r>
              <a:rPr lang="en-US" sz="105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algn="l"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</a:t>
            </a:r>
            <a:pPr algn="l" indent="0" marL="0">
              <a:buNone/>
            </a:pPr>
            <a:r>
              <a:rPr lang="en-US" sz="105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algn="l"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·k</a:t>
            </a:r>
            <a:pPr algn="l" indent="0" marL="0">
              <a:buNone/>
            </a:pPr>
            <a:r>
              <a:rPr lang="en-US" sz="1050" baseline="3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Conv2d(8, 16, 3): n</a:t>
            </a:r>
            <a:pPr algn="l" indent="0" marL="0">
              <a:buNone/>
            </a:pPr>
            <a:r>
              <a:rPr lang="en-US" sz="105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algn="l"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72, n</a:t>
            </a:r>
            <a:pPr algn="l" indent="0" marL="0">
              <a:buNone/>
            </a:pPr>
            <a:r>
              <a:rPr lang="en-US" sz="1050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algn="l"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144; граница Ксавье и отклонение Кайминга – оба 1/6.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ГЛУБИНЕ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ReLU, 50 слоев: три инициализации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0515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315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Отклонение выхода слоя по формулам; в задании Н3 – то же на опыте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5760720" y="1143000"/>
            <a:ext cx="292608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943600" y="1252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algn="l" indent="0" marL="0">
              <a:buNone/>
            </a:pPr>
            <a:r>
              <a:rPr lang="en-US" sz="2000" b="1" baseline="3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9436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умолчанию: U(±1/√n), × 0.41 за слой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760720" y="2221992"/>
            <a:ext cx="2926080" cy="94183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94360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3·10</a:t>
            </a:r>
            <a:pPr algn="l" indent="0" marL="0">
              <a:buNone/>
            </a:pPr>
            <a:r>
              <a:rPr lang="en-US" sz="2000" b="1" baseline="3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2770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Ксавье: × 0.71 за слой, ReLU съедает половину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760720" y="3300984"/>
            <a:ext cx="2926080" cy="941832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5943600" y="34107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1.4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5943600" y="3849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Кайминг: × 1 на всех 50 слоях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22/img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Градиенты: затухание и взрыв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Обратный проход, утесы и отсечение градиента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ГРАДИЕНТЫ ПО СЛОЯМ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Назад – тем же путем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pPr algn="r" indent="0" marL="0">
              <a:buNone/>
            </a:pPr>
            <a:r>
              <a:rPr lang="en-US" sz="1400" b="1" baseline="-4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W</a:t>
            </a:r>
            <a:pPr algn="r" indent="0" marL="0">
              <a:buNone/>
            </a:pPr>
            <a:r>
              <a:rPr lang="en-US" sz="1400" b="1" baseline="3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δ</a:t>
            </a:r>
            <a:pPr algn="r" indent="0" marL="0">
              <a:buNone/>
            </a:pPr>
            <a:r>
              <a:rPr lang="en-US" sz="1400" b="1" baseline="-4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 на каждом слое умножается на матрицу весов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0515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4315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tanh, 50 слоев по 256 нейронов, сразу после инициализации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760720" y="1143000"/>
            <a:ext cx="2926080" cy="13258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943600" y="1261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1783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1: у первого слоя градиент в 10</a:t>
            </a:r>
            <a:pPr algn="l" indent="0" marL="0">
              <a:buNone/>
            </a:pPr>
            <a:r>
              <a:rPr lang="en-US" sz="900" baseline="300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pPr algn="l"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 больше, чем у последнего – взрыв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760720" y="2651760"/>
            <a:ext cx="2926080" cy="11430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5943600" y="27706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Ксавье: все слои учатся с одной скоростью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76072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0.01: градиенты практически нулевые у всех слоев – сигнал погас еще при прямом проходе.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УТЕСЫ И ОТСЕЧЕНИЕ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Отсечение градиента по норме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‖g‖ &gt; c:  g ← g · c / ‖g‖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– порог, норма по всем параметрам сети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411480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/home/claude/b22/img/cl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61872"/>
            <a:ext cx="3886200" cy="24048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46320" y="1143000"/>
            <a:ext cx="3840480" cy="13716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047488" y="12984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700" dirty="0"/>
          </a:p>
        </p:txBody>
      </p:sp>
      <p:sp>
        <p:nvSpPr>
          <p:cNvPr id="13" name="Text 9"/>
          <p:cNvSpPr txBox="1"/>
          <p:nvPr/>
        </p:nvSpPr>
        <p:spPr>
          <a:xfrm>
            <a:off x="5047488" y="157276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(3, 4),  ‖g‖ = √(9 + 16) = 5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1:  g · 1/5 = (0.6, 0.8)</a:t>
            </a:r>
            <a:endParaRPr lang="en-US" sz="11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то же, длина 1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46320" y="2697480"/>
            <a:ext cx="3840480" cy="11430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5047488" y="28163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ЦИКЛЕ ОБУЧЕНИЯ</a:t>
            </a:r>
            <a:endParaRPr lang="en-US" sz="700" dirty="0"/>
          </a:p>
        </p:txBody>
      </p:sp>
      <p:sp>
        <p:nvSpPr>
          <p:cNvPr id="16" name="Text 12"/>
          <p:cNvSpPr txBox="1"/>
          <p:nvPr/>
        </p:nvSpPr>
        <p:spPr>
          <a:xfrm>
            <a:off x="5047488" y="30723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clip_grad_norm_(model.parameters(), 1.0)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opt.step()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Особенно нужно рекуррентным сетям (Б1.5). Функция из PyTorch: torch.nn.utils.clip_grad_norm_.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22/img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Пакетная нормализация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Формулы, два режима работы и нормализация по слою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ПАКЕТНАЯ НОРМАЛИЗАЦИЯ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нейрон – к среднему 0 и дисперсии 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9202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1298448"/>
            <a:ext cx="457200" cy="402336"/>
          </a:xfrm>
          <a:prstGeom prst="hexagon">
            <a:avLst/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70432" y="1280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Среднее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(1/m) · Σ h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1143000"/>
            <a:ext cx="19202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24912" y="1298448"/>
            <a:ext cx="457200" cy="402336"/>
          </a:xfrm>
          <a:prstGeom prst="hexagon">
            <a:avLst/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24912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273552" y="1280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Дисперсия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724912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pPr algn="l" indent="0" marL="0">
              <a:buNone/>
            </a:pPr>
            <a:r>
              <a:rPr lang="en-US" sz="1100" b="1" baseline="3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(1/m) · Σ (h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μ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pPr algn="l" indent="0" marL="0">
              <a:buNone/>
            </a:pPr>
            <a:r>
              <a:rPr lang="en-US" sz="1100" b="1" baseline="3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1143000"/>
            <a:ext cx="19202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28032" y="1298448"/>
            <a:ext cx="457200" cy="402336"/>
          </a:xfrm>
          <a:prstGeom prst="hexagon">
            <a:avLst/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28032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376672" y="1280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Нормализация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828032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(h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μ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√(σ</a:t>
            </a:r>
            <a:pPr algn="l" indent="0" marL="0">
              <a:buNone/>
            </a:pPr>
            <a:r>
              <a:rPr lang="en-US" sz="1100" b="1" baseline="3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ε)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66560" y="1143000"/>
            <a:ext cx="1920240" cy="14630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931152" y="1298448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31152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7479792" y="1280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Масштаб и сдвиг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931152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γ · ĥ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β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2834640"/>
            <a:ext cx="4023360" cy="1188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58368" y="2999232"/>
            <a:ext cx="457200" cy="402336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" y="29992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γβ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261872" y="2990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и β обучаются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261872" y="3310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может вернуть любой масштаб: при γ = σ</a:t>
            </a:r>
            <a:pPr algn="l" indent="0" marL="0">
              <a:buNone/>
            </a:pPr>
            <a:r>
              <a:rPr lang="en-US" sz="950" baseline="-4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l"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β = μ</a:t>
            </a:r>
            <a:pPr algn="l" indent="0" marL="0">
              <a:buNone/>
            </a:pPr>
            <a:r>
              <a:rPr lang="en-US" sz="950" baseline="-4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l"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слой ничего не меняет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663440" y="2834640"/>
            <a:ext cx="4023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864608" y="2999232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64608" y="29992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468112" y="2990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= 10</a:t>
            </a:r>
            <a:pPr algn="l" indent="0" marL="0">
              <a:buNone/>
            </a:pPr>
            <a:r>
              <a:rPr lang="en-US" sz="1200" b="1" baseline="3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468112" y="3310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защищает от деления на ноль; градиент проходит и через μ</a:t>
            </a:r>
            <a:pPr algn="l" indent="0" marL="0">
              <a:buNone/>
            </a:pPr>
            <a:r>
              <a:rPr lang="en-US" sz="950" baseline="-4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algn="l"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σ</a:t>
            </a:r>
            <a:pPr algn="l" indent="0" marL="0">
              <a:buNone/>
            </a:pPr>
            <a:r>
              <a:rPr lang="en-US" sz="950" baseline="-4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Иоффе и Сегеди, 2015. Гудфеллоу, раздел 8.7.1 («пакетная нормировка»).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 из четырех объектов: (3, 5, 5, 11)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987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одного нейрона на четырех картинках пакета; γ = 2, β = 0.5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606040" cy="22860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46120" y="1371600"/>
            <a:ext cx="2606040" cy="22860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0" y="1371600"/>
            <a:ext cx="2651760" cy="22860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8368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· СТАТИСТИКА</a:t>
            </a:r>
            <a:endParaRPr lang="en-US" sz="7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874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(3 + 5 + 5 + 11) / 4 = 6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pPr algn="l" indent="0" marL="0">
              <a:spcAft>
                <a:spcPts val="800"/>
              </a:spcAft>
              <a:buNone/>
            </a:pPr>
            <a:r>
              <a:rPr lang="en-US" sz="1100" baseline="3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(9 + 1 + 1 + 25) / 4 = 9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 на m = 4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447288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· НОРМАЛИЗАЦИЯ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3447288" y="1874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 = (h − 6) / 3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(−1, −0.33, −0.33, 1.67)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447288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0, дисперсия 1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236208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МАСШТАБ И СДВИГ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6236208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2 · ĥ + 0.5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236208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(−1.5, −0.17,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−0.17, 3.83)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236208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0.5, отклонение 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– задание Н5: MyBatchNorm на тензоре формы (4, 1).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СВЕРТОЧНОЙ СЕТИ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ставить и как считать для сверток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691640" cy="566928"/>
          </a:xfrm>
          <a:prstGeom prst="rect">
            <a:avLst/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1887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bias=False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11887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606040" y="1188720"/>
            <a:ext cx="1691640" cy="566928"/>
          </a:xfrm>
          <a:prstGeom prst="rect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06040" y="11887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BatchNorm2d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μ, σ² по каналу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343400" y="11887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754880" y="1188720"/>
            <a:ext cx="1691640" cy="566928"/>
          </a:xfrm>
          <a:prstGeom prst="rect">
            <a:avLst/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54880" y="11887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11887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903720" y="1188720"/>
            <a:ext cx="1691640" cy="566928"/>
          </a:xfrm>
          <a:prstGeom prst="rect">
            <a:avLst/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03720" y="11887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MaxPool2d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1874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Смещение свертки лишнее: среднее вычитается, сдвиг дает β.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2286000"/>
            <a:ext cx="4846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0" descr="/home/claude/b22/img/cha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06040"/>
            <a:ext cx="4572000" cy="138074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532120" y="2286000"/>
            <a:ext cx="3154680" cy="20116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5733288" y="24323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Канал 2 у всех объектов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5733288" y="27889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H · W чисел → одно μ и одно σ</a:t>
            </a:r>
            <a:pPr algn="l" indent="0" marL="0">
              <a:spcAft>
                <a:spcPts val="600"/>
              </a:spcAft>
              <a:buNone/>
            </a:pPr>
            <a:r>
              <a:rPr lang="en-US" sz="950" baseline="300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γ и β у каждого канала: у BatchNorm2d(16) – 32 параметра</a:t>
            </a:r>
            <a:endParaRPr lang="en-US" sz="9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полносвязный слой: BatchNorm1d, статистика по N объектам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РЕЖИМА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и применение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3931920" cy="25146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6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model.train()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916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пакета: μ = 6, σ</a:t>
            </a:r>
            <a:pPr algn="l" indent="0" marL="0">
              <a:spcAft>
                <a:spcPts val="500"/>
              </a:spcAft>
              <a:buNone/>
            </a:pPr>
            <a:r>
              <a:rPr lang="en-US" sz="1050" baseline="30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9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копим скользящие средние, m = 0.1: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running_mean = 0.9·0 + 0.1·6 = 0.6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running_var = 0.9·1 + 0.1·12 = 2.1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= 36 / 3 – несмещенная дисперсия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1143000"/>
            <a:ext cx="3931920" cy="25146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98348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model.eval()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берем накопленное: (h − 0.6) / √2.1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3, γ = 2, β = 0.5  →  3.81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не зависит от соседей по пакету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скользящие средние не меняются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3840480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" y="3968496"/>
            <a:ext cx="457200" cy="402336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39684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84048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Забыли model.eval() – </a:t>
            </a:r>
            <a:pPr algn="l" indent="0" marL="0">
              <a:buNone/>
            </a:pPr>
            <a:r>
              <a:rPr lang="en-US" sz="10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зависит от состава пакета, а тестовые данные портят скользящие средние.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ОЦЕНКА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и слабые стороны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3931920" cy="22860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1298448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261872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Помогает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87452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обучения можно брать больше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меньше зависит от начальных весов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падает быстрее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статистики пакета слегка регуляризует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143000"/>
            <a:ext cx="3931920" cy="22860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56048" y="1298448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56048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559552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Мешает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983480" y="187452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из 2–4 объектов: статистика шумная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разное поведение в обучении и применении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лишние вычисления и память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неудобна в рекуррентных сетях и трансформерах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помогает – вопрос открытый: «сдвиг распределений между слоями» (Иоффе, Сегеди, 2015) или более гладкая поверхность потерь (Сантуркар и соавторы, 2018).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ПО СЛОЮ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пакету или по объекту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08760" y="1600200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65960" y="1600200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23160" y="1600200"/>
            <a:ext cx="411480" cy="283464"/>
          </a:xfrm>
          <a:prstGeom prst="rect">
            <a:avLst/>
          </a:prstGeom>
          <a:solidFill>
            <a:srgbClr val="4C9BFF"/>
          </a:solidFill>
          <a:ln w="6350">
            <a:solidFill>
              <a:srgbClr val="1F63C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80360" y="1600200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37560" y="1600200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94760" y="1600200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08760" y="1929384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65960" y="1929384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23160" y="1929384"/>
            <a:ext cx="411480" cy="283464"/>
          </a:xfrm>
          <a:prstGeom prst="rect">
            <a:avLst/>
          </a:prstGeom>
          <a:solidFill>
            <a:srgbClr val="4C9BFF"/>
          </a:solidFill>
          <a:ln w="6350">
            <a:solidFill>
              <a:srgbClr val="1F63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80360" y="1929384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37560" y="1929384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94760" y="1929384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508760" y="2258568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65960" y="2258568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23160" y="2258568"/>
            <a:ext cx="411480" cy="283464"/>
          </a:xfrm>
          <a:prstGeom prst="rect">
            <a:avLst/>
          </a:prstGeom>
          <a:solidFill>
            <a:srgbClr val="4C9BFF"/>
          </a:solidFill>
          <a:ln w="6350">
            <a:solidFill>
              <a:srgbClr val="1F63C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80360" y="2258568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37560" y="2258568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94760" y="2258568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508760" y="2587752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965960" y="2587752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423160" y="2587752"/>
            <a:ext cx="411480" cy="283464"/>
          </a:xfrm>
          <a:prstGeom prst="rect">
            <a:avLst/>
          </a:prstGeom>
          <a:solidFill>
            <a:srgbClr val="4C9BFF"/>
          </a:solidFill>
          <a:ln w="6350">
            <a:solidFill>
              <a:srgbClr val="1F63C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880360" y="2587752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337560" y="2587752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794760" y="2587752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508760" y="13533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→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16184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↓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806440" y="1600200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63640" y="1600200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20840" y="1600200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178040" y="1600200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635240" y="1600200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92440" y="1600200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806440" y="1929384"/>
            <a:ext cx="411480" cy="283464"/>
          </a:xfrm>
          <a:prstGeom prst="rect">
            <a:avLst/>
          </a:prstGeom>
          <a:solidFill>
            <a:srgbClr val="4C9BFF"/>
          </a:solidFill>
          <a:ln w="6350">
            <a:solidFill>
              <a:srgbClr val="1F63C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263640" y="1929384"/>
            <a:ext cx="411480" cy="283464"/>
          </a:xfrm>
          <a:prstGeom prst="rect">
            <a:avLst/>
          </a:prstGeom>
          <a:solidFill>
            <a:srgbClr val="4C9BFF"/>
          </a:solidFill>
          <a:ln w="6350">
            <a:solidFill>
              <a:srgbClr val="1F63C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20840" y="1929384"/>
            <a:ext cx="411480" cy="283464"/>
          </a:xfrm>
          <a:prstGeom prst="rect">
            <a:avLst/>
          </a:prstGeom>
          <a:solidFill>
            <a:srgbClr val="4C9BFF"/>
          </a:solidFill>
          <a:ln w="6350">
            <a:solidFill>
              <a:srgbClr val="1F63C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178040" y="1929384"/>
            <a:ext cx="411480" cy="283464"/>
          </a:xfrm>
          <a:prstGeom prst="rect">
            <a:avLst/>
          </a:prstGeom>
          <a:solidFill>
            <a:srgbClr val="4C9BFF"/>
          </a:solidFill>
          <a:ln w="6350">
            <a:solidFill>
              <a:srgbClr val="1F63C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635240" y="1929384"/>
            <a:ext cx="411480" cy="283464"/>
          </a:xfrm>
          <a:prstGeom prst="rect">
            <a:avLst/>
          </a:prstGeom>
          <a:solidFill>
            <a:srgbClr val="4C9BFF"/>
          </a:solidFill>
          <a:ln w="6350">
            <a:solidFill>
              <a:srgbClr val="1F63C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092440" y="1929384"/>
            <a:ext cx="411480" cy="283464"/>
          </a:xfrm>
          <a:prstGeom prst="rect">
            <a:avLst/>
          </a:prstGeom>
          <a:solidFill>
            <a:srgbClr val="4C9BFF"/>
          </a:solidFill>
          <a:ln w="6350">
            <a:solidFill>
              <a:srgbClr val="1F63C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806440" y="2258568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63640" y="2258568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720840" y="2258568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178040" y="2258568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635240" y="2258568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092440" y="2258568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806440" y="2587752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263640" y="2587752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720840" y="2587752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178040" y="2587752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635240" y="2587752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092440" y="2587752"/>
            <a:ext cx="411480" cy="283464"/>
          </a:xfrm>
          <a:prstGeom prst="rect">
            <a:avLst/>
          </a:prstGeom>
          <a:solidFill>
            <a:srgbClr val="EAF2FF"/>
          </a:solidFill>
          <a:ln w="6350">
            <a:solidFill>
              <a:srgbClr val="E1E3E5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806440" y="13533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→</a:t>
            </a:r>
            <a:endParaRPr lang="en-US" sz="850" dirty="0"/>
          </a:p>
        </p:txBody>
      </p:sp>
      <p:sp>
        <p:nvSpPr>
          <p:cNvPr id="60" name="Text 57"/>
          <p:cNvSpPr txBox="1"/>
          <p:nvPr/>
        </p:nvSpPr>
        <p:spPr>
          <a:xfrm>
            <a:off x="4937760" y="16184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↓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68580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Пакетная: BatchNorm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685800" y="33467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по всем объектам пакета; свертки; нужны скользящие средние</a:t>
            </a:r>
            <a:endParaRPr lang="en-US" sz="900" dirty="0"/>
          </a:p>
        </p:txBody>
      </p:sp>
      <p:sp>
        <p:nvSpPr>
          <p:cNvPr id="63" name="Text 60"/>
          <p:cNvSpPr txBox="1"/>
          <p:nvPr/>
        </p:nvSpPr>
        <p:spPr>
          <a:xfrm>
            <a:off x="498348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слою: LayerNorm</a:t>
            </a:r>
            <a:endParaRPr lang="en-US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4983480" y="334670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признаки одного объекта; трансформеры (Тема 2); одинаково в обучении и применении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457200" y="4005072"/>
            <a:ext cx="8229600" cy="5486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6" name="Text 63"/>
          <p:cNvSpPr txBox="1"/>
          <p:nvPr/>
        </p:nvSpPr>
        <p:spPr>
          <a:xfrm>
            <a:off x="685800" y="40050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же формулы – другая ось. </a:t>
            </a:r>
            <a:pPr algn="l"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Ба, Кирос, Хинтон, 2016: нормализация по слою не зависит от размера пакета.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22/img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сигнал под контролем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 №2, часть 2Н: от симметрии до своего слоя нормализации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ХРАНИТСЯ В КОДЕ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Параметры, буферы и режим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4206240" cy="30632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2984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BatchNorm2d(8).state_dict()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27632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              # γ, 8 чисел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bias                 # β, 8 чисел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running_mean         # буфер, 8 чисел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running_var          # буфер, 8 чисел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num_batches_tracked  # счетчик шагов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self.register_buffer('running_mean',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torch.zeros(C))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98348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Параметры: weight, bias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15179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и β; их обновляет оптимизатор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98348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Буферы: running_mean, running_var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23408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обучаются, но сохраняются в state_dict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98348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Флаг self.training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31638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переключают model.train() и model.eval()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SimpleCNN_BN 9122 параметра: на 24 больше, чем у SimpleCNN (задание Н6).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заданий – от симметрии до сети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" y="128016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2801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207008" y="129844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Симметрия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8562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constant_init_ · row_spread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1488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XOR: ≤ 0.75 против 1.0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14300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83280" y="128016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83280" y="12801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Н2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995928" y="129844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в глубокой сети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18562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init_normal_ · layer_stds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21488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0.0115 · 1 · 12 089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35040" y="1143000"/>
            <a:ext cx="2651760" cy="13258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128016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72200" y="12801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Н3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784848" y="129844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Ксавье и Кайминг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18562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fans · xavier_uniform_ · kaiming_normal_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21488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задание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260604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94360" y="274320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4360" y="27432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Н4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207008" y="276148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Градиенты и отсечение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94360" y="3319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grad_norms · my_clip_grad_norm_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594360" y="36118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(1.5, 0) и (0, 2)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246120" y="2606040"/>
            <a:ext cx="2651760" cy="13258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383280" y="274320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383280" y="27432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Н5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3995928" y="276148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слой нормализации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3383280" y="3319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MyBatchNorm</a:t>
            </a:r>
            <a:endParaRPr lang="en-US" sz="750" dirty="0"/>
          </a:p>
        </p:txBody>
      </p:sp>
      <p:sp>
        <p:nvSpPr>
          <p:cNvPr id="36" name="Text 33"/>
          <p:cNvSpPr txBox="1"/>
          <p:nvPr/>
        </p:nvSpPr>
        <p:spPr>
          <a:xfrm>
            <a:off x="3383280" y="36118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задание: −1.5 … 3.833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035040" y="260604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172200" y="274320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172200" y="27432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Н6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6784848" y="276148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в сети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6172200" y="33192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SimpleCNN_BN</a:t>
            </a:r>
            <a:endParaRPr lang="en-US" sz="750" dirty="0"/>
          </a:p>
        </p:txBody>
      </p:sp>
      <p:sp>
        <p:nvSpPr>
          <p:cNvPr id="42" name="Text 39"/>
          <p:cNvSpPr txBox="1"/>
          <p:nvPr/>
        </p:nvSpPr>
        <p:spPr>
          <a:xfrm>
            <a:off x="6172200" y="36118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9122 параметра, train и eval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Н1–Н4: только тензоры, без torch.nn.init. Н5: свой nn.Module, сверка с nn.BatchNorm1d и nn.BatchNorm2d.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Инициализация и нормализация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1612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Случайные веса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4721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одинаковые нейроны остаются копиями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9718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11612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Множитель n·σ²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47218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1 – затухание, больше – взрыв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212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Ксавье и Кайминг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52374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tanh: 2/(n</a:t>
            </a:r>
            <a:pPr algn="l" indent="0" marL="0">
              <a:buNone/>
            </a:pPr>
            <a:r>
              <a:rPr lang="en-US" sz="900" baseline="-4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n</a:t>
            </a:r>
            <a:pPr algn="l" indent="0" marL="0">
              <a:buNone/>
            </a:pPr>
            <a:r>
              <a:rPr lang="en-US" sz="900" baseline="-4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ReLU: 2/n</a:t>
            </a:r>
            <a:pPr algn="l" indent="0" marL="0">
              <a:buNone/>
            </a:pPr>
            <a:r>
              <a:rPr lang="en-US" sz="900" baseline="-40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29718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22128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Отсечение градиента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252374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ограничена, направление то же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3264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Нормализация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357530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и σ² по пакету, затем γ·ĥ + β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29718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3264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и eval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3474720" y="357530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при обучении, скользящие средние при применении</a:t>
            </a:r>
            <a:endParaRPr lang="en-US" sz="900" dirty="0"/>
          </a:p>
        </p:txBody>
      </p:sp>
      <p:pic>
        <p:nvPicPr>
          <p:cNvPr id="25" name="Image 0" descr="/home/claude/b22/img/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68680"/>
            <a:ext cx="2926080" cy="3236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Инициализация и нормализация</dc:title>
  <dc:subject>PptxGenJS Presentation</dc:subject>
  <dc:creator>Порохин Ю. М.</dc:creator>
  <cp:lastModifiedBy>Порохин Ю. М.</cp:lastModifiedBy>
  <cp:revision>1</cp:revision>
  <dcterms:created xsi:type="dcterms:W3CDTF">2026-10-05T05:56:48Z</dcterms:created>
  <dcterms:modified xsi:type="dcterms:W3CDTF">2026-10-05T05:56:48Z</dcterms:modified>
</cp:coreProperties>
</file>